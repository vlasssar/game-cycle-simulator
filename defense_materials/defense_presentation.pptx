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789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Исследование и разработка подходов к совершенствованию бизнес-процессов цифровых платформ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E8F1FA"/>
                </a:solidFill>
                <a:latin typeface="Arial"/>
              </a:rPr>
              <a:t>на примере игрового цикла онлайн-казино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6984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Arial"/>
              </a:rPr>
              <a:t>Магистерская диссертация</a:t>
            </a:r>
          </a:p>
          <a:p>
            <a:r>
              <a:rPr sz="1700" b="0">
                <a:solidFill>
                  <a:srgbClr val="E8F1FA"/>
                </a:solidFill>
                <a:latin typeface="Arial"/>
              </a:rPr>
              <a:t>Сарычев Владислав Витальевич, ПММ-41</a:t>
            </a:r>
          </a:p>
          <a:p>
            <a:r>
              <a:rPr sz="1700" b="0">
                <a:solidFill>
                  <a:srgbClr val="E8F1FA"/>
                </a:solidFill>
                <a:latin typeface="Arial"/>
              </a:rPr>
              <a:t>НГТУ, факультет прикладной математики и информатики</a:t>
            </a:r>
          </a:p>
          <a:p>
            <a:r>
              <a:rPr sz="1700" b="0">
                <a:solidFill>
                  <a:srgbClr val="E8F1FA"/>
                </a:solidFill>
                <a:latin typeface="Arial"/>
              </a:rPr>
              <a:t>Руководитель: Стасышин В. М., к.т.н., доцент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2. Актуальность и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Высокая и неравномерная нагрузка цифровых платформ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Обработка операций в режиме реального времени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Необходимость баланса: производительность, отказы, доходность, anti-fraud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Традиционный анализ недостаточен для стохастических высоконагруженных систем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 b="1">
                <a:solidFill>
                  <a:srgbClr val="181C23"/>
                </a:solidFill>
                <a:latin typeface="Arial"/>
              </a:defRPr>
            </a:pPr>
            <a:r>
              <a:t>Проблема: нужен инструмент оценки и оптимизации процесса до внедрения изменений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3. Цель, объект, предмет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900" b="1">
                <a:solidFill>
                  <a:srgbClr val="181C23"/>
                </a:solidFill>
                <a:latin typeface="Arial"/>
              </a:defRPr>
            </a:pPr>
            <a:r>
              <a:t>Цель: разработать подходы к совершенствованию бизнес-процессов цифровых платформ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 b="1">
                <a:solidFill>
                  <a:srgbClr val="181C23"/>
                </a:solidFill>
                <a:latin typeface="Arial"/>
              </a:defRPr>
            </a:pPr>
            <a:r>
              <a:t>Объект: бизнес-процессы высоконагруженных цифровых платформ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 b="1">
                <a:solidFill>
                  <a:srgbClr val="181C23"/>
                </a:solidFill>
                <a:latin typeface="Arial"/>
              </a:defRPr>
            </a:pPr>
            <a:r>
              <a:t>Предмет: методы моделирования и оптимизации игрового цикла онлайн-казино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Задачи: анализ предметной области, формализация цикла, разработка модели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Реализация программной системы, эксперименты и практические рекомендации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4. Новизна и практическая значимость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Комплексная модель игрового цикла: нагрузка, очереди, отказы, доходность, anti-fraud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Игровой цикл представлен как система состояний, переходов и событий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Оптимизация параметров основана на результатах имитационного моделирования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Разработана веб-система для проведения экспериментов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Результаты применимы к другим цифровым системам реального времени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5. Формализация игрового цикла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5/14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Состояния: ставка -&gt; проверка параметров -&gt; anti-fraud -&gt; игровая логика -&gt; результат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Дополнительное состояние: ошибка или отказ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Модель: марковский процесс с вероятностными переходами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События: поступление ставки, начало обработки, завершение проверки, результат, ошибка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Формализация позволяет выявлять узкие места процесса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6. Модель и критерии эффективности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6/14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Входные параметры: X = (lambda, mu, k, a, L, F, N, seed)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lambda — интенсивность потока; mu — скорость обработки; k — каналы обработки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a — алгоритмический коэффициент; L — лимит ставки; F — anti-fraud параметр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Критерии: время обработки, очередь, rho, отказы, доход за единицу времени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Anti-fraud метрики: detection rate, false positive rate, false negative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7. Постановка задачи оптимизации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7/14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Управляемые параметры: theta = (k, a, L, F)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 b="1">
                <a:solidFill>
                  <a:srgbClr val="181C23"/>
                </a:solidFill>
                <a:latin typeface="Arial"/>
              </a:defRPr>
            </a:pPr>
            <a:r>
              <a:t>Цель: максимизировать доход за единицу времени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Ограничения: rho ниже критического уровня и время обработки ниже порога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Сохранение приемлемого качества anti-fraud фильтрации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Методы: Random Search, Grid Search, Genetic Algorithm, Adaptive Optimizer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8. Программная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8/14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Клиент-серверная веб-система моделирования и оптимизации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Backend на Go: симулятор, генератор потока, расчет метрик, anti-fraud, оптимизация, REST API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Frontend на React + TypeScript: параметры, сценарии нагрузки, запуск экспериментов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Визуализация результатов: карточки метрик, таблицы, графики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Экспорт результатов в CSV и JSON; воспроизводимость через seed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9. Вычислительные эксперименты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9/14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1. Влияние интенсивности входящего потока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2. Влияние числа каналов обработки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3. Влияние параметра anti-fraud фильтрации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4. Сравнение baseline и optimized режимов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181C23"/>
                </a:solidFill>
                <a:latin typeface="Arial"/>
              </a:defRPr>
            </a:pPr>
            <a:r>
              <a:t>5. Сравнение методов оптимизации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10. Эксперимент 1: влияние нагрузки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10/14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928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40"/>
                <a:gridCol w="1882140"/>
                <a:gridCol w="1882140"/>
                <a:gridCol w="1882140"/>
                <a:gridCol w="1882140"/>
                <a:gridCol w="1882140"/>
              </a:tblGrid>
              <a:tr h="5760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Сценарий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lambda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rho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Очередь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Отказы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Доход/время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Низкая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0,2859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0,0961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6,7432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0,5671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6,3704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Высокая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0,8528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0,1926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0,1739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-2,3036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Стресс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1,1423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44,1167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-14,2652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4846320"/>
            <a:ext cx="10835640" cy="457200"/>
          </a:xfrm>
          <a:prstGeom prst="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22B4C"/>
                </a:solidFill>
                <a:latin typeface="Arial"/>
              </a:rPr>
              <a:t>При rho &gt; 1 очередь растет скачкообразно, а доходность становится отрицательной.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11. Эксперимент 2: масштабирование каналов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370"/>
                </a:solidFill>
                <a:latin typeface="Arial"/>
              </a:rPr>
              <a:t>Высокая нагрузка: lambda = 12, mu = 5, a = 1, L = 100, F = 0,25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11/14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928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5562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rho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Очередь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Отказы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Доход/время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1,2642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110,7586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0,2234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-12,7840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0,8528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-2,3036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0,6476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0,0316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0,1487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5,3741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0,5191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10,4924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0,4334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0,1189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13,6527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349240"/>
            <a:ext cx="10835640" cy="457200"/>
          </a:xfrm>
          <a:prstGeom prst="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22B4C"/>
                </a:solidFill>
                <a:latin typeface="Arial"/>
              </a:rPr>
              <a:t>Минимально приемлемый режим для сценария высокой нагрузки начинается с k = 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12. Эксперимент 3: anti-fraud параметр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12/14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928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40"/>
                <a:gridCol w="1882140"/>
                <a:gridCol w="1882140"/>
                <a:gridCol w="1882140"/>
                <a:gridCol w="1882140"/>
                <a:gridCol w="1882140"/>
              </a:tblGrid>
              <a:tr h="5562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Detection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FNR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Время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Отказы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Доход/время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0,8996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0,2011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0,1268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7,6495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0,9844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6,7241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0,9974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0,2127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0,1343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6,3704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1,0000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5,2159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1,0000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0,2303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0,1524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2,8466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285232"/>
            <a:ext cx="10835640" cy="457200"/>
          </a:xfrm>
          <a:prstGeom prst="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22B4C"/>
                </a:solidFill>
                <a:latin typeface="Arial"/>
              </a:rPr>
              <a:t>Рациональная область F = 0,2-0,3: безопасность растет без чрезмерной потери эффективности.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13. Эксперимент 4: baseline vs optimized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370"/>
                </a:solidFill>
                <a:latin typeface="Arial"/>
              </a:rPr>
              <a:t>Исходный сценарий высокой нагрузки: lambda = 12, mu = 5, k = 3, a = 1, L = 100, F = 0,25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13/14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928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39485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Optimized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Время обработки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0,2132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0,1410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Время ожидания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rho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0,8528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0,3383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Вероятность отказа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0,1739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Доход/время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-2,3036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42,0042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4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Detection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0,9987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0,9988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916168"/>
            <a:ext cx="10835640" cy="384048"/>
          </a:xfrm>
          <a:prstGeom prst="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22B4C"/>
                </a:solidFill>
                <a:latin typeface="Arial"/>
              </a:rPr>
              <a:t>Оптимизация улучшила производительность и доходность без ухудшения anti-fraud качества.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2B4C"/>
          </a:solidFill>
          <a:ln>
            <a:solidFill>
              <a:srgbClr val="12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14. Сравнение методов и итоговые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C6370"/>
                </a:solidFill>
                <a:latin typeface="Arial"/>
              </a:rPr>
              <a:t>Сарычев В. В. | Магистерская диссертация | 14/14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928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40"/>
                <a:gridCol w="1882140"/>
                <a:gridCol w="1882140"/>
                <a:gridCol w="1882140"/>
                <a:gridCol w="1882140"/>
                <a:gridCol w="18821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Метод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Итерации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Доход/время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Очередь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rho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Fraud Detection</a:t>
                      </a:r>
                    </a:p>
                  </a:txBody>
                  <a:tcPr>
                    <a:solidFill>
                      <a:srgbClr val="122B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Random Search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40,0864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0,3478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1,0000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Grid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42,0042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0,3383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0,9988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Genetic Algorithm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42,0042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0,3383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0,9988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Adaptive 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36,6021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0,0033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0,4224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C23"/>
                          </a:solidFill>
                          <a:latin typeface="Arial"/>
                        </a:defRPr>
                      </a:pPr>
                      <a:r>
                        <a:t>0,9962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886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C23"/>
                </a:solidFill>
                <a:latin typeface="Arial"/>
              </a:defRPr>
            </a:pPr>
            <a:r>
              <a:t>Цель работы достигнута: разработана модель и программная система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C23"/>
                </a:solidFill>
                <a:latin typeface="Arial"/>
              </a:defRPr>
            </a:pPr>
            <a:r>
              <a:t>Grid Search и Genetic Algorithm показали лучшие результаты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C23"/>
                </a:solidFill>
                <a:latin typeface="Arial"/>
              </a:defRPr>
            </a:pPr>
            <a:r>
              <a:t>Genetic Algorithm достиг результата полного перебора при меньшем числе проверок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C23"/>
                </a:solidFill>
                <a:latin typeface="Arial"/>
              </a:defRPr>
            </a:pPr>
            <a:r>
              <a:t>Практические рекомендации: контролировать rho, масштабировать k, настраивать F как компромисс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438912"/>
          </a:xfrm>
          <a:prstGeom prst="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22B4C"/>
                </a:solidFill>
                <a:latin typeface="Arial"/>
              </a:rPr>
              <a:t>Имитационное моделирование и оптимизация применимы для совершенствования бизнес-процессов цифровых платформ.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